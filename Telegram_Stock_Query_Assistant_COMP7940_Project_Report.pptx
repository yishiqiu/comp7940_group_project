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92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28625" y="142875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3000" y="325041"/>
            <a:ext cx="33593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HONG KONG BAPTIST UNIVERSITY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0" y="857250"/>
            <a:ext cx="9144000" cy="3336131"/>
          </a:xfrm>
          <a:prstGeom prst="rect">
            <a:avLst/>
          </a:prstGeom>
          <a:solidFill>
            <a:srgbClr val="F8F4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71500" y="1749689"/>
            <a:ext cx="8572500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Stock
Query Assistant</a:t>
            </a:r>
            <a:endParaRPr lang="en-US" sz="3731" dirty="0"/>
          </a:p>
        </p:txBody>
      </p:sp>
      <p:sp>
        <p:nvSpPr>
          <p:cNvPr id="11" name="Shape 8"/>
          <p:cNvSpPr/>
          <p:nvPr/>
        </p:nvSpPr>
        <p:spPr>
          <a:xfrm>
            <a:off x="571500" y="3024122"/>
            <a:ext cx="8572500" cy="2768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71500" y="3024122"/>
            <a:ext cx="57150" cy="276820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71500" y="3024122"/>
            <a:ext cx="8572500" cy="27682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COMP7940 Cloud Computing Project</a:t>
            </a:r>
            <a:endParaRPr lang="en-US" sz="1704" dirty="0"/>
          </a:p>
        </p:txBody>
      </p:sp>
      <p:sp>
        <p:nvSpPr>
          <p:cNvPr id="14" name="Shape 11"/>
          <p:cNvSpPr/>
          <p:nvPr/>
        </p:nvSpPr>
        <p:spPr>
          <a:xfrm>
            <a:off x="0" y="4193381"/>
            <a:ext cx="9144000" cy="95011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71500" y="4479131"/>
            <a:ext cx="263247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</a:t>
            </a:r>
            <a:r>
              <a:rPr lang="en-US" sz="1090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Yishi Qiu</a:t>
            </a: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(25421018)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571500" y="4668441"/>
            <a:ext cx="263247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Science</a:t>
            </a:r>
            <a:endParaRPr lang="en-US" sz="1159" dirty="0"/>
          </a:p>
        </p:txBody>
      </p:sp>
      <p:sp>
        <p:nvSpPr>
          <p:cNvPr id="17" name="Text 14"/>
          <p:cNvSpPr/>
          <p:nvPr/>
        </p:nvSpPr>
        <p:spPr>
          <a:xfrm>
            <a:off x="7913489" y="4720233"/>
            <a:ext cx="6590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24288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3429000" y="428625"/>
            <a:ext cx="5286375" cy="27682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&amp; GOALS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3686175" y="91975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Assistant: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Telegram-integrated tool designed for real-time financial data retrieval and personalized stock management.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86175" y="16627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Focus: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Emphasizes cloud deployment, database logging, LLM integration, and containerization over simple bot functionality.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86175" y="240565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Integrated monitoring for metrics and performance tracking in a cloud-native environment.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86175" y="314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Identity: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Registered under </a:t>
            </a: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@comp7940_YishiQiu_bot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serving as a practical demonstration of cloud computing principles.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51" y="19745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&amp; EVIDENCE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28650" y="1128713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DATABASE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85813" y="1468041"/>
            <a:ext cx="14841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3.12 with FastAPI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1673758"/>
            <a:ext cx="18466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MySQL (Tencent Cloud)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1879476"/>
            <a:ext cx="1800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ORM Integration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28650" y="2274503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&amp; INTELLIGENCE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785813" y="2613831"/>
            <a:ext cx="18198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MiMo OpenAI-Compatible API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785813" y="2819549"/>
            <a:ext cx="1042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Bot API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85813" y="3025267"/>
            <a:ext cx="1364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Data Stock API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28650" y="3420294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CORE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785813" y="3759622"/>
            <a:ext cx="1639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&amp; Docker Compose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85813" y="3965339"/>
            <a:ext cx="13126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CI/CD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785813" y="4171057"/>
            <a:ext cx="14216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Monitoring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750594" y="1567160"/>
            <a:ext cx="3929063" cy="2857500"/>
          </a:xfrm>
          <a:prstGeom prst="rect">
            <a:avLst/>
          </a:prstGeom>
          <a:solidFill>
            <a:srgbClr val="F1F5F9"/>
          </a:solidFill>
          <a:ln w="27432">
            <a:solidFill>
              <a:srgbClr val="4D148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764113" y="4567535"/>
            <a:ext cx="19020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REPOSITORY &amp; STACK</a:t>
            </a:r>
            <a:endParaRPr lang="en-US" sz="784" dirty="0"/>
          </a:p>
        </p:txBody>
      </p:sp>
      <p:pic>
        <p:nvPicPr>
          <p:cNvPr id="23" name="图片 22" descr="图形用户界面, 文本, 应用程序, 电子邮件, 网站&#10;&#10;描述已自动生成">
            <a:extLst>
              <a:ext uri="{FF2B5EF4-FFF2-40B4-BE49-F238E27FC236}">
                <a16:creationId xmlns:a16="http://schemas.microsoft.com/office/drawing/2014/main" id="{956303F8-3C9F-7B2F-6BAF-9D542006F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43" y="1475129"/>
            <a:ext cx="4903182" cy="2971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" y="2937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FLOW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28650" y="1128713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PROCESSING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85813" y="1468041"/>
            <a:ext cx="31503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 handles webhooks from Telegram.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1673758"/>
            <a:ext cx="2218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parsing and API orchestration.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28650" y="2068785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785813" y="2408113"/>
            <a:ext cx="21145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Dockerized services for portability.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85813" y="2613831"/>
            <a:ext cx="16484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Tencent Cloud VM hosting.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8650" y="3008858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785813" y="3348186"/>
            <a:ext cx="2143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logging in Cloud MySQL.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85813" y="3553904"/>
            <a:ext cx="21395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LLM-powered summarization layer.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404247" y="4567535"/>
            <a:ext cx="26217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INFRASTRUCTURE &amp; DEPLOYMENT</a:t>
            </a:r>
            <a:endParaRPr lang="en-US" sz="784" dirty="0"/>
          </a:p>
        </p:txBody>
      </p:sp>
      <p:pic>
        <p:nvPicPr>
          <p:cNvPr id="20" name="图片 19" descr="图形用户界面, 文本, 应用程序, 电子邮件, 网站&#10;&#10;描述已自动生成">
            <a:extLst>
              <a:ext uri="{FF2B5EF4-FFF2-40B4-BE49-F238E27FC236}">
                <a16:creationId xmlns:a16="http://schemas.microsoft.com/office/drawing/2014/main" id="{6BA817F4-2697-1207-9267-C52BF1583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47" y="967130"/>
            <a:ext cx="4537012" cy="1783322"/>
          </a:xfrm>
          <a:prstGeom prst="rect">
            <a:avLst/>
          </a:prstGeom>
        </p:spPr>
      </p:pic>
      <p:pic>
        <p:nvPicPr>
          <p:cNvPr id="22" name="图片 21" descr="电脑萤幕的截图&#10;&#10;描述已自动生成">
            <a:extLst>
              <a:ext uri="{FF2B5EF4-FFF2-40B4-BE49-F238E27FC236}">
                <a16:creationId xmlns:a16="http://schemas.microsoft.com/office/drawing/2014/main" id="{6498234F-5D6E-488A-DBCF-F2261E0B1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091" y="2831759"/>
            <a:ext cx="4066593" cy="2227134"/>
          </a:xfrm>
          <a:prstGeom prst="rect">
            <a:avLst/>
          </a:prstGeom>
        </p:spPr>
      </p:pic>
      <p:pic>
        <p:nvPicPr>
          <p:cNvPr id="24" name="图片 23" descr="图形用户界面, 应用程序&#10;&#10;描述已自动生成">
            <a:extLst>
              <a:ext uri="{FF2B5EF4-FFF2-40B4-BE49-F238E27FC236}">
                <a16:creationId xmlns:a16="http://schemas.microsoft.com/office/drawing/2014/main" id="{2A99F397-BDC9-392C-F37D-F01197C72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66" y="3820438"/>
            <a:ext cx="5789357" cy="1240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QUERYING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28650" y="1128713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PROCESSING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85813" y="1468041"/>
            <a:ext cx="21020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plain English stock queries.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1673758"/>
            <a:ext cx="2411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single and multi-stock intents.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28650" y="2068785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INTEGRATION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785813" y="2408113"/>
            <a:ext cx="23788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Summarizes raw market data for users.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85813" y="2613831"/>
            <a:ext cx="19859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context-aware insights.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8650" y="3008858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VALUE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785813" y="3348186"/>
            <a:ext cx="2471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complex syntax requirements.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85813" y="3553904"/>
            <a:ext cx="25306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financial intelligence via Telegram.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862340" y="4567535"/>
            <a:ext cx="170557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BOT INTERACTION</a:t>
            </a:r>
            <a:endParaRPr lang="en-US" sz="784" dirty="0"/>
          </a:p>
        </p:txBody>
      </p:sp>
      <p:pic>
        <p:nvPicPr>
          <p:cNvPr id="22" name="图片 21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4F2D8606-7321-D52E-6A97-668CF7F1B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336" y="980480"/>
            <a:ext cx="1718621" cy="3724572"/>
          </a:xfrm>
          <a:prstGeom prst="rect">
            <a:avLst/>
          </a:prstGeom>
        </p:spPr>
      </p:pic>
      <p:pic>
        <p:nvPicPr>
          <p:cNvPr id="24" name="图片 23" descr="图形用户界面, 文本, 应用程序&#10;&#10;描述已自动生成">
            <a:extLst>
              <a:ext uri="{FF2B5EF4-FFF2-40B4-BE49-F238E27FC236}">
                <a16:creationId xmlns:a16="http://schemas.microsoft.com/office/drawing/2014/main" id="{19CA3015-C3AF-4B2F-19BD-F3F17BC5C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746" y="1026241"/>
            <a:ext cx="4299465" cy="34008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WATCHLIST MANAGEMENT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28650" y="1128713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TRACKING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85813" y="1468041"/>
            <a:ext cx="2361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stocks with /add and /remove.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1673758"/>
            <a:ext cx="2300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current watchlist with /watchlist.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28650" y="2068785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FEATURE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785813" y="2408113"/>
            <a:ext cx="27735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LLM-powered updates for all followed stocks.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85813" y="2613831"/>
            <a:ext cx="24556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market view via /summary.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8650" y="3008858"/>
            <a:ext cx="38004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785813" y="3348186"/>
            <a:ext cx="23020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stored securely in Cloud MySQL.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85813" y="3553904"/>
            <a:ext cx="21252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Cross-session continuity for users.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665887" y="4567535"/>
            <a:ext cx="20984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WATCHLIST OPERATIONS</a:t>
            </a:r>
            <a:endParaRPr lang="en-US" sz="784" dirty="0"/>
          </a:p>
        </p:txBody>
      </p:sp>
      <p:pic>
        <p:nvPicPr>
          <p:cNvPr id="20" name="图片 19" descr="图形用户界面, 应用程序&#10;&#10;描述已自动生成">
            <a:extLst>
              <a:ext uri="{FF2B5EF4-FFF2-40B4-BE49-F238E27FC236}">
                <a16:creationId xmlns:a16="http://schemas.microsoft.com/office/drawing/2014/main" id="{E1E66741-A39D-20D3-EF05-0E345179E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341" y="1934808"/>
            <a:ext cx="3641714" cy="2121599"/>
          </a:xfrm>
          <a:prstGeom prst="rect">
            <a:avLst/>
          </a:prstGeom>
        </p:spPr>
      </p:pic>
      <p:pic>
        <p:nvPicPr>
          <p:cNvPr id="22" name="图片 21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E5A671FF-16B3-E6EA-F5AE-80F36FC6E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224" y="1028700"/>
            <a:ext cx="1815172" cy="3933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75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REQUIREMENTS: MUST-HAVES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914400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TELEGRAM CHATBOT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178719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Fully functional bot deployed on Telegram, accessible via @comp7940_YishiQiu_bot.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1530158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CLOUD DATABASE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1794477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Cloud MySQL instance for persistent data logging and watchlist management.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145916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CLOUD HOSTING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2410234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Backend service hosted on a Tencent Cloud VM, ensuring cloud deployment.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2761673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LLM API USAGE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3025992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Integrated MiMo OpenAI-compatible API for natural language summarization.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28625" y="3377431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GIT MANAGEMENT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28625" y="3641750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managed with Git, hosted on a public GitHub repository.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3993189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CONTAINER TECHNOLOGIES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28625" y="4257508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Docker and Docker Compose used for containerization of services.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28625" y="4608947"/>
            <a:ext cx="4071938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COST-AWARE MONITORING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28625" y="4873265"/>
            <a:ext cx="4071938" cy="308577"/>
          </a:xfrm>
          <a:prstGeom prst="rect">
            <a:avLst/>
          </a:prstGeom>
          <a:noFill/>
          <a:ln/>
        </p:spPr>
        <p:txBody>
          <a:bodyPr wrap="square" lIns="178562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Fulfillment: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Prometheus-compatible metrics endpoint for monitoring cloud costs and usage.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926758" y="4890036"/>
            <a:ext cx="24717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CORE TECHNICAL COMPLIANCE</a:t>
            </a:r>
            <a:endParaRPr lang="en-US" sz="784" dirty="0"/>
          </a:p>
        </p:txBody>
      </p:sp>
      <p:pic>
        <p:nvPicPr>
          <p:cNvPr id="25" name="图片 24" descr="图形用户界面, 文本, 应用程序, 电子邮件, Teams&#10;&#10;描述已自动生成">
            <a:extLst>
              <a:ext uri="{FF2B5EF4-FFF2-40B4-BE49-F238E27FC236}">
                <a16:creationId xmlns:a16="http://schemas.microsoft.com/office/drawing/2014/main" id="{C7798DD0-F864-CE81-81F5-1101CAAAB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2" y="1338802"/>
            <a:ext cx="3846412" cy="1549127"/>
          </a:xfrm>
          <a:prstGeom prst="rect">
            <a:avLst/>
          </a:prstGeom>
        </p:spPr>
      </p:pic>
      <p:pic>
        <p:nvPicPr>
          <p:cNvPr id="31" name="图片 30" descr="图形用户界面, 应用程序&#10;&#10;描述已自动生成">
            <a:extLst>
              <a:ext uri="{FF2B5EF4-FFF2-40B4-BE49-F238E27FC236}">
                <a16:creationId xmlns:a16="http://schemas.microsoft.com/office/drawing/2014/main" id="{810897B3-81EE-EE11-18E4-5775D7B75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112" y="3114122"/>
            <a:ext cx="4071938" cy="1367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872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7153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&amp; OBSERVABILITY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1514475"/>
            <a:ext cx="2647931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35794" y="2034183"/>
            <a:ext cx="24407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CI/CD pipelines for testing and deployment.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35794" y="2805708"/>
            <a:ext cx="24407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Management: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Version-controlled source code and configuration.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476606" y="1514475"/>
            <a:ext cx="2419359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683775" y="2034183"/>
            <a:ext cx="221219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metrics collection and system health tracking.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683775" y="2805708"/>
            <a:ext cx="221219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endpoints for performance analysis.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296016" y="1514475"/>
            <a:ext cx="2419331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6503184" y="2034183"/>
            <a:ext cx="22121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Containerized FastAPI backend for environment parity.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503184" y="2591395"/>
            <a:ext cx="22121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Stateless design ready for Kubernetes orchestration.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70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757238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NICE-TO-HAVE CONSIDERATIONS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828675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DEVOPS WORKFLOW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1064419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Implemented CI/CD with GitHub Actions for automated testing and deployment.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1481603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SCALABILITY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85750" y="1717346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Stateless backend architecture amenable to horizontal scaling.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285750" y="2134530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LOAD BALANCING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85750" y="2370274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Considered: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Deployment / Operations section emphasizes load balancing in design.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85750" y="2787458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ORCHESTRATION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85750" y="3023202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Kubernetes-related files included for multi-container orchestration.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85750" y="3440385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SECURITY MEASUREMENTS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85750" y="3676129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Environment-based secret management for sensitive data.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85750" y="4093313"/>
            <a:ext cx="4214813" cy="20716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PRACTICAL CONSIDERATIONS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285750" y="4329057"/>
            <a:ext cx="4214813" cy="360034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Health checks, metrics, and fallback stock data sources for robustness.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002297" y="4689091"/>
            <a:ext cx="19877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ADVANCED PRACTICES</a:t>
            </a:r>
            <a:endParaRPr lang="en-US" sz="784" dirty="0"/>
          </a:p>
        </p:txBody>
      </p:sp>
      <p:pic>
        <p:nvPicPr>
          <p:cNvPr id="23" name="图片 22" descr="图形用户界面, 文本, 应用程序&#10;&#10;描述已自动生成">
            <a:extLst>
              <a:ext uri="{FF2B5EF4-FFF2-40B4-BE49-F238E27FC236}">
                <a16:creationId xmlns:a16="http://schemas.microsoft.com/office/drawing/2014/main" id="{463EE41A-3635-C9EC-39DA-038DE65D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42197"/>
            <a:ext cx="4214813" cy="1795121"/>
          </a:xfrm>
          <a:prstGeom prst="rect">
            <a:avLst/>
          </a:prstGeom>
        </p:spPr>
      </p:pic>
      <p:pic>
        <p:nvPicPr>
          <p:cNvPr id="25" name="图片 2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AFF3E907-1D37-3614-8B7E-DF6E971FF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229" y="3274511"/>
            <a:ext cx="3965479" cy="13183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7153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&amp; COST MANAGEMENT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1700213"/>
            <a:ext cx="444913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EXPENSE BREAKDOWN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2119908"/>
            <a:ext cx="2775849" cy="258961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Type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204474" y="2119908"/>
            <a:ext cx="1673284" cy="258961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Cost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2378869"/>
            <a:ext cx="2775849" cy="333970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VM (Tencent Cloud)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4474" y="2378869"/>
            <a:ext cx="1673284" cy="333970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RMB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2712839"/>
            <a:ext cx="2775849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MySQL Database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4474" y="2712839"/>
            <a:ext cx="1673284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RMB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3036094"/>
            <a:ext cx="2775849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API Usage (MiMo)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4474" y="3036094"/>
            <a:ext cx="1673284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RMB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28625" y="3359348"/>
            <a:ext cx="2775849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Monthly Estimate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204474" y="3359348"/>
            <a:ext cx="1673284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 RMB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49296" y="1700213"/>
            <a:ext cx="296607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STRATEGY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006471" y="2119908"/>
            <a:ext cx="270890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Architecture: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Intentionally designed to minimize resource consumption while meeting all technical goals.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006471" y="2879936"/>
            <a:ext cx="270890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Cost-Aware Cloud:</a:t>
            </a: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Leverages low-cost VM and database instances suitable for educational prototypes.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5749296" y="3639964"/>
            <a:ext cx="2966079" cy="133588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749296" y="3639964"/>
            <a:ext cx="2966079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963608" y="3854276"/>
            <a:ext cx="253745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DEPLOYMENT COST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6342749" y="4225645"/>
            <a:ext cx="1170192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altLang="zh-CN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</a:t>
            </a: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RMB</a:t>
            </a:r>
            <a:endParaRPr lang="en-US" sz="24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42863"/>
          </a:xfrm>
          <a:prstGeom prst="rect">
            <a:avLst/>
          </a:prstGeom>
          <a:solidFill>
            <a:srgbClr val="F9A11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FUTURE WORK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28650" y="1128713"/>
            <a:ext cx="36576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ACHIEVEMENTS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85813" y="1468041"/>
            <a:ext cx="27485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cloud-native bot for stock queries.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1673758"/>
            <a:ext cx="31396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full DevOps lifecycle implementation.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1879476"/>
            <a:ext cx="27449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 all technical goals of COMP7940 course.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28650" y="2274503"/>
            <a:ext cx="36576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POTENTIAL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785813" y="2613831"/>
            <a:ext cx="27039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LLM capabilities for deeper analysis.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785813" y="2819549"/>
            <a:ext cx="2391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portfolio profit/loss tracking.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85813" y="3025267"/>
            <a:ext cx="25592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with multi-region cloud deployment.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990802" y="2096691"/>
            <a:ext cx="195917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FINAL PROJECT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949976" y="2096691"/>
            <a:ext cx="10608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HERE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0" y="4021931"/>
            <a:ext cx="9144000" cy="112156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0" y="4021931"/>
            <a:ext cx="9144000" cy="28575"/>
          </a:xfrm>
          <a:prstGeom prst="rect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285750" y="4336256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4D14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</a:t>
            </a:r>
            <a:endParaRPr lang="en-US" sz="1808" dirty="0"/>
          </a:p>
        </p:txBody>
      </p:sp>
      <p:pic>
        <p:nvPicPr>
          <p:cNvPr id="22" name="图片 2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1B54B2B8-0540-5A4B-99FD-B762B0FF0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749" y="974995"/>
            <a:ext cx="3819300" cy="295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743</Words>
  <Application>Microsoft Macintosh PowerPoint</Application>
  <PresentationFormat>全屏显示(16:9)</PresentationFormat>
  <Paragraphs>139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Inter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Yishi QIU</cp:lastModifiedBy>
  <cp:revision>2</cp:revision>
  <dcterms:created xsi:type="dcterms:W3CDTF">2026-04-14T19:42:05Z</dcterms:created>
  <dcterms:modified xsi:type="dcterms:W3CDTF">2026-04-14T20:03:04Z</dcterms:modified>
</cp:coreProperties>
</file>